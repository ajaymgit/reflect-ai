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69" r:id="rId3"/>
    <p:sldId id="276" r:id="rId4"/>
    <p:sldId id="278" r:id="rId5"/>
    <p:sldId id="279" r:id="rId6"/>
    <p:sldId id="285" r:id="rId7"/>
    <p:sldId id="280" r:id="rId8"/>
    <p:sldId id="286" r:id="rId9"/>
    <p:sldId id="290" r:id="rId19"/>
    <p:sldId id="287" r:id="rId10"/>
    <p:sldId id="288" r:id="rId11"/>
    <p:sldId id="284" r:id="rId12"/>
    <p:sldId id="28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ma M" userId="e0b197fd078148ca" providerId="LiveId" clId="{8D1589A5-AF85-4230-87E8-7D0E98F64695}"/>
    <pc:docChg chg="addSld modSld">
      <pc:chgData name="Anupama M" userId="e0b197fd078148ca" providerId="LiveId" clId="{8D1589A5-AF85-4230-87E8-7D0E98F64695}" dt="2026-04-25T07:46:04.459" v="100" actId="20577"/>
      <pc:docMkLst>
        <pc:docMk/>
      </pc:docMkLst>
      <pc:sldChg chg="modSp mod">
        <pc:chgData name="Anupama M" userId="e0b197fd078148ca" providerId="LiveId" clId="{8D1589A5-AF85-4230-87E8-7D0E98F64695}" dt="2026-04-25T07:45:33.041" v="61" actId="14100"/>
        <pc:sldMkLst>
          <pc:docMk/>
          <pc:sldMk cId="272306093" sldId="269"/>
        </pc:sldMkLst>
        <pc:spChg chg="mod">
          <ac:chgData name="Anupama M" userId="e0b197fd078148ca" providerId="LiveId" clId="{8D1589A5-AF85-4230-87E8-7D0E98F64695}" dt="2026-04-25T07:45:33.041" v="61" actId="14100"/>
          <ac:spMkLst>
            <pc:docMk/>
            <pc:sldMk cId="272306093" sldId="269"/>
            <ac:spMk id="4" creationId="{234B2C90-16E2-4FB6-90D6-CEB309DAAAAB}"/>
          </ac:spMkLst>
        </pc:spChg>
      </pc:sldChg>
      <pc:sldChg chg="modSp mod">
        <pc:chgData name="Anupama M" userId="e0b197fd078148ca" providerId="LiveId" clId="{8D1589A5-AF85-4230-87E8-7D0E98F64695}" dt="2026-04-25T06:15:55.075" v="21" actId="20577"/>
        <pc:sldMkLst>
          <pc:docMk/>
          <pc:sldMk cId="2245961451" sldId="274"/>
        </pc:sldMkLst>
        <pc:spChg chg="mod">
          <ac:chgData name="Anupama M" userId="e0b197fd078148ca" providerId="LiveId" clId="{8D1589A5-AF85-4230-87E8-7D0E98F64695}" dt="2026-04-25T06:15:55.075" v="21" actId="20577"/>
          <ac:spMkLst>
            <pc:docMk/>
            <pc:sldMk cId="2245961451" sldId="274"/>
            <ac:spMk id="7" creationId="{DFD61F20-285D-4A37-B121-F3626355A777}"/>
          </ac:spMkLst>
        </pc:spChg>
      </pc:sldChg>
      <pc:sldChg chg="modSp mod">
        <pc:chgData name="Anupama M" userId="e0b197fd078148ca" providerId="LiveId" clId="{8D1589A5-AF85-4230-87E8-7D0E98F64695}" dt="2026-04-25T07:46:04.459" v="100" actId="20577"/>
        <pc:sldMkLst>
          <pc:docMk/>
          <pc:sldMk cId="2033866940" sldId="284"/>
        </pc:sldMkLst>
        <pc:spChg chg="mod">
          <ac:chgData name="Anupama M" userId="e0b197fd078148ca" providerId="LiveId" clId="{8D1589A5-AF85-4230-87E8-7D0E98F64695}" dt="2026-04-25T07:46:04.459" v="100" actId="20577"/>
          <ac:spMkLst>
            <pc:docMk/>
            <pc:sldMk cId="2033866940" sldId="284"/>
            <ac:spMk id="3" creationId="{D319D1EE-AF95-4373-B568-F22C9407B941}"/>
          </ac:spMkLst>
        </pc:spChg>
      </pc:sldChg>
      <pc:sldChg chg="add">
        <pc:chgData name="Anupama M" userId="e0b197fd078148ca" providerId="LiveId" clId="{8D1589A5-AF85-4230-87E8-7D0E98F64695}" dt="2026-04-25T07:45:47.707" v="62" actId="2890"/>
        <pc:sldMkLst>
          <pc:docMk/>
          <pc:sldMk cId="3500163389" sldId="289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2BA3-39F7-E493-F678-A559D52DA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B0953-2A85-9D56-DA43-E12BB2587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D7F70-9EBB-BC80-BB51-2866B623E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82C-ED5E-4860-94E7-E2F70833236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783B7-85DD-A5BE-8B53-D63E70A27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89433-9214-1422-1875-07464CC1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628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B93BF-73A5-7F04-3347-3EE720E9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75B16-F03C-BBF7-4E0E-A3063B76A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13B88-F991-B9A7-805A-C16DAF5CE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33FFF-824C-4F5F-2732-028C7D48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A40251-B762-248B-0943-D6B52DD53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00607"/>
            <a:ext cx="2105247" cy="53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17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60222-4734-082F-E777-6A79DB53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30D30-9B55-37D1-996A-5A962C516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E9B0-120B-1D1C-6CDD-ACBED663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0306" y="6443330"/>
            <a:ext cx="1391093" cy="27814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199CF-E318-1CE6-ABF1-05FE45BC0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16FE2-5836-784D-3D4A-1200D4B6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564A57-E718-BE7C-6A1F-EA441B8FDE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78144"/>
            <a:ext cx="2060760" cy="52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45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918E-F6A3-FE40-9671-F73DB398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CDBB4-4696-7D57-470B-E692984F1F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133EA-A374-2B4C-C47A-963FED4B0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FC896-4F24-B0A0-0693-B5469F74E8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11572" y="6356350"/>
            <a:ext cx="1369828" cy="36512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7183D-E330-73F5-E3F9-D5321CFDC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7511F-D7EC-9B4F-1217-E5E67A8B9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86A3E6-518C-E27C-C468-1F3E60F5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14" y="6307294"/>
            <a:ext cx="2020002" cy="51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7B96-C86A-B31E-DDED-520DDFDA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876FF-5950-5A02-C159-4AB37B070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444E7-E6F7-EAA1-7FF2-7D9564E26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1434E5-D177-06D7-F535-633AF0304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6B288-A768-A48F-E632-BED661C43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8C3A4D-B939-C747-9248-E82FEA1C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0940" y="6356350"/>
            <a:ext cx="1380460" cy="36512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F1A8D-C1EB-CAD9-07CF-C988DE645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83CA6-69D0-76BB-E8B6-569B7272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41217E-33DB-8E20-63DC-EC9C39AFE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08503"/>
            <a:ext cx="2100198" cy="53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8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3AA4-0FEA-2133-3D99-381F1C525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64850-647B-304D-34BD-0B4E2BB3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88018" y="6356350"/>
            <a:ext cx="1093381" cy="36512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08-08-2026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BCC28-39F8-4F49-3A20-DEB2DD2E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68E70-A1BB-4D6D-1C8A-1B36DFA10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96E194-34AE-1F29-34BE-B3CFB611C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238" y="6297871"/>
            <a:ext cx="2100198" cy="53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7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B440C8-E8B2-BB57-DE63-C3FA57801E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2716" y="6356350"/>
            <a:ext cx="1518684" cy="36512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08-08-2026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BDB31C-9505-C633-8CF0-F3AC956AC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203CF-7503-C50C-C34E-580322EF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99532-F85E-FAE7-EC94-17E0FB27A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85262"/>
            <a:ext cx="1975700" cy="50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163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4173-34DB-77FB-86D8-1520DA27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0587-5262-3C8B-94C8-3E62DC7F2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4695E-CF45-82B0-58DC-B82180E32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5F61C-4745-931A-7D26-5600EADD9E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98920" y="6356350"/>
            <a:ext cx="1582479" cy="36512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9D89E-D7F8-3498-A186-2D2652B4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AE3FD-3F82-5548-A817-8DF5DB39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7D98D9-AE90-7804-E63B-3FC38C7583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956" y="6351367"/>
            <a:ext cx="2001876" cy="5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7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74AB-C26D-FCB9-7D42-C11574D88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F9EB65-9F2C-9C69-2826-24B273F82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109EA-0CB5-434B-0E98-F56F6327A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0AE3B-6A88-B7A0-7EC9-2C779CC6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96632" y="6356350"/>
            <a:ext cx="1284767" cy="36512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08-08-2026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01C90-01CB-6A6A-6935-0EE40648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9DF40-44E7-4A6B-82E1-F38508FDA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7D04B2-AAB7-59F6-F6A0-BA2708F18D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6343774"/>
            <a:ext cx="2009553" cy="5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82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FD25-ABCB-2093-0D49-D956DED12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F5E6B-3490-AD23-918F-6CB78EF65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80331-449A-F6AD-8FA3-9D1355A1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82C-ED5E-4860-94E7-E2F70833236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603CD-EABB-5DEF-11F2-04ECEDB5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C9CB5-C412-7145-98E6-DBDA400D7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530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C94E8E-0D54-0265-23A3-55E88CE37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575FB-1358-1241-ECE3-432FCFADA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20106-243F-D55D-BEBE-785B409DC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82C-ED5E-4860-94E7-E2F70833236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5C8B7-219A-6787-9145-31E33677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FADEB-CB71-D53F-4D24-6E95ADE7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797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806BB-E550-CD31-E95C-E8256F7B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1846E-8D6D-D610-B632-07504F846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D740B-6421-E5BE-6859-91681C9367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2A82C-ED5E-4860-94E7-E2F70833236B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313BE-2533-EBB4-2391-107A5025E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F580B-599D-7CDD-7D28-21E078A19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69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2.wmf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D61F20-285D-4A37-B121-F3626355A777}"/>
              </a:ext>
            </a:extLst>
          </p:cNvPr>
          <p:cNvSpPr txBox="1"/>
          <p:nvPr/>
        </p:nvSpPr>
        <p:spPr>
          <a:xfrm>
            <a:off x="2135551" y="1920080"/>
            <a:ext cx="792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Major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Roboto Condensed" panose="02000000000000000000"/>
                <a:cs typeface="Times New Roman" panose="02020603050405020304" pitchFamily="18" charset="0"/>
                <a:sym typeface="Roboto Condensed" panose="02000000000000000000"/>
              </a:rPr>
              <a:t>Project (BCS685)Phase-2:Review-1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ea typeface="Roboto Condensed" panose="02000000000000000000"/>
              <a:cs typeface="Times New Roman" panose="02020603050405020304" pitchFamily="18" charset="0"/>
              <a:sym typeface="Roboto Condensed" panose="0200000000000000000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068AC4-CA93-4866-A814-C4279BA6E534}"/>
              </a:ext>
            </a:extLst>
          </p:cNvPr>
          <p:cNvSpPr txBox="1"/>
          <p:nvPr/>
        </p:nvSpPr>
        <p:spPr>
          <a:xfrm>
            <a:off x="1632010" y="2514600"/>
            <a:ext cx="9067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ReflectAI</a:t>
            </a:r>
            <a:r>
              <a:rPr sz="1900" b="1">
                <a:latin typeface="Times New Roman"/>
              </a:rPr>
              <a:t>: A Depth-Adaptive Socratic Reflection Engine for</a:t>
            </a:r>
          </a:p>
          <a:p>
            <a:pPr algn="ctr"/>
            <a:r>
              <a:rPr sz="1900" b="1">
                <a:latin typeface="Times New Roman"/>
              </a:rPr>
              <a:t>Longitudinal AI Journaling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B3C8B-944F-46ED-8EF8-26550FD6AB9F}"/>
              </a:ext>
            </a:extLst>
          </p:cNvPr>
          <p:cNvSpPr txBox="1"/>
          <p:nvPr/>
        </p:nvSpPr>
        <p:spPr>
          <a:xfrm>
            <a:off x="928850" y="744346"/>
            <a:ext cx="105155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Baskerville Old Face" panose="02020602080505020303" pitchFamily="18" charset="0"/>
              </a:rPr>
              <a:t>RNS INSTITUTE OF TECHNOLOGY</a:t>
            </a:r>
          </a:p>
          <a:p>
            <a:pPr algn="ctr"/>
            <a:r>
              <a:rPr lang="en-US" sz="3200" dirty="0">
                <a:solidFill>
                  <a:srgbClr val="C00000"/>
                </a:solidFill>
                <a:latin typeface="Baskerville Old Face" panose="02020602080505020303" pitchFamily="18" charset="0"/>
              </a:rPr>
              <a:t>Department of Computer Science &amp; Engineering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B570B1C0-DAEB-4866-80B2-4C013121A9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164214"/>
              </p:ext>
            </p:extLst>
          </p:nvPr>
        </p:nvGraphicFramePr>
        <p:xfrm>
          <a:off x="5773480" y="-12828"/>
          <a:ext cx="637954" cy="80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408430" imgH="2011680" progId="Word.Picture.8">
                  <p:embed/>
                </p:oleObj>
              </mc:Choice>
              <mc:Fallback>
                <p:oleObj name="Picture" r:id="rId2" imgW="1408430" imgH="2011680" progId="Word.Picture.8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B570B1C0-DAEB-4866-80B2-4C013121A9B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73480" y="-12828"/>
                        <a:ext cx="637954" cy="800475"/>
                      </a:xfrm>
                      <a:prstGeom prst="rect">
                        <a:avLst/>
                      </a:prstGeom>
                      <a:blipFill rotWithShape="1">
                        <a:blip r:embed="rId4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73F30B5-1005-4190-BF9D-D9370AE7FDE9}"/>
              </a:ext>
            </a:extLst>
          </p:cNvPr>
          <p:cNvSpPr/>
          <p:nvPr/>
        </p:nvSpPr>
        <p:spPr>
          <a:xfrm>
            <a:off x="502749" y="4278870"/>
            <a:ext cx="469657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en-US" sz="2400" b="1" u="sng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Student Names:</a:t>
            </a:r>
          </a:p>
          <a:p>
            <a:pPr algn="just" eaLnBrk="1" hangingPunct="1"/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Name [</a:t>
            </a:r>
            <a:r>
              <a:rPr lang="en-US" altLang="en-US" sz="2400" b="1" dirty="0">
                <a:solidFill>
                  <a:srgbClr val="C0000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USN]</a:t>
            </a:r>
          </a:p>
          <a:p>
            <a:pPr algn="just" eaLnBrk="1" hangingPunct="1"/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Name [</a:t>
            </a:r>
            <a:r>
              <a:rPr lang="en-US" altLang="en-US" sz="2400" b="1" dirty="0">
                <a:solidFill>
                  <a:srgbClr val="C0000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USN]</a:t>
            </a:r>
          </a:p>
          <a:p>
            <a:pPr algn="just" eaLnBrk="1" hangingPunct="1"/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Name [</a:t>
            </a:r>
            <a:r>
              <a:rPr lang="en-US" altLang="en-US" sz="2400" b="1" dirty="0">
                <a:solidFill>
                  <a:srgbClr val="C0000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USN]</a:t>
            </a:r>
          </a:p>
          <a:p>
            <a:pPr algn="just"/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Name [</a:t>
            </a:r>
            <a:r>
              <a:rPr lang="en-US" altLang="en-US" sz="2400" b="1" dirty="0">
                <a:solidFill>
                  <a:srgbClr val="C0000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USN]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1F2B66-452A-4602-B77B-E10ED6DA8C36}"/>
              </a:ext>
            </a:extLst>
          </p:cNvPr>
          <p:cNvSpPr/>
          <p:nvPr/>
        </p:nvSpPr>
        <p:spPr>
          <a:xfrm>
            <a:off x="8123275" y="4648201"/>
            <a:ext cx="37258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en-US" sz="2400" b="1" u="sng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Guide Name:</a:t>
            </a:r>
          </a:p>
          <a:p>
            <a:pPr algn="just" eaLnBrk="1" hangingPunct="1"/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Name</a:t>
            </a:r>
          </a:p>
          <a:p>
            <a:pPr algn="just" eaLnBrk="1" hangingPunct="1"/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Designation</a:t>
            </a:r>
          </a:p>
          <a:p>
            <a:pPr algn="just" eaLnBrk="1" hangingPunct="1"/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Dept. of CSE, RNSIT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0E859CA-824F-4384-84D5-C4CD90807A6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03975" y="6356350"/>
            <a:ext cx="1094117" cy="365125"/>
          </a:xfrm>
        </p:spPr>
        <p:txBody>
          <a:bodyPr/>
          <a:lstStyle/>
          <a:p>
            <a:r>
              <a:rPr lang="en-US" dirty="0"/>
              <a:t>12/03/2026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6E8EF12-3D44-47FD-9DF5-634DEB26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7" name="Picture 8">
            <a:extLst>
              <a:ext uri="{FF2B5EF4-FFF2-40B4-BE49-F238E27FC236}">
                <a16:creationId xmlns:a16="http://schemas.microsoft.com/office/drawing/2014/main" id="{04ABDC97-232A-441B-81D8-EC6015E5F0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99" y="608381"/>
            <a:ext cx="1260505" cy="1349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18CB6B-E683-470C-777B-080BD875137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596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88" y="228600"/>
            <a:ext cx="12188825" cy="6096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Sitka Banner" panose="02000505000000020004" pitchFamily="2" charset="0"/>
              </a:rPr>
              <a:t>AGENDA</a:t>
            </a:r>
          </a:p>
        </p:txBody>
      </p:sp>
      <p:sp>
        <p:nvSpPr>
          <p:cNvPr id="4" name="Shape 193">
            <a:extLst>
              <a:ext uri="{FF2B5EF4-FFF2-40B4-BE49-F238E27FC236}">
                <a16:creationId xmlns:a16="http://schemas.microsoft.com/office/drawing/2014/main" id="{234B2C90-16E2-4FB6-90D6-CEB309DAAAAB}"/>
              </a:ext>
            </a:extLst>
          </p:cNvPr>
          <p:cNvSpPr txBox="1">
            <a:spLocks/>
          </p:cNvSpPr>
          <p:nvPr/>
        </p:nvSpPr>
        <p:spPr>
          <a:xfrm>
            <a:off x="1219199" y="850231"/>
            <a:ext cx="8552121" cy="5506118"/>
          </a:xfrm>
          <a:prstGeom prst="rect">
            <a:avLst/>
          </a:prstGeom>
        </p:spPr>
        <p:txBody>
          <a:bodyPr vert="horz" wrap="square" lIns="68569" tIns="68569" rIns="68569" bIns="68569" rtlCol="0" anchor="t" anchorCtr="0">
            <a:no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Literature Survey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Problem Statement 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Objectives 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Methodology/System Architecture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Results (showcase atleast 60-70% work)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Timeline/Plan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Future Scope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Patent/ Publication Details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References </a:t>
            </a:r>
          </a:p>
          <a:p>
            <a:pPr indent="-52705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52303-E54D-4373-B2C7-765BA802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5D61DB88-334B-B7BB-CCCA-5473892B208A}"/>
              </a:ext>
            </a:extLst>
          </p:cNvPr>
          <p:cNvSpPr txBox="1">
            <a:spLocks/>
          </p:cNvSpPr>
          <p:nvPr/>
        </p:nvSpPr>
        <p:spPr>
          <a:xfrm>
            <a:off x="2313317" y="6356349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12/03/2026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B60FB5-827F-1CB4-7B92-C690C48806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30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9D1EE-AF95-4373-B568-F22C9407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INTRODUCTION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26B048-E727-470A-9F16-393057F5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04900"/>
            <a:ext cx="9921240" cy="4991100"/>
          </a:xfrm>
        </p:spPr>
        <p:txBody>
          <a:bodyPr wrap="square">
            <a:normAutofit/>
          </a:bodyPr>
          <a:lstStyle/>
          <a:p>
            <a:pPr algn="just" indent="-182880" marL="182880">
              <a:lnSpc>
                <a:spcPct val="108000"/>
              </a:lnSpc>
              <a:spcBef>
                <a:spcPts val="1200"/>
              </a:spcBef>
              <a:spcAft>
                <a:spcPts val="1100"/>
              </a:spcAft>
              <a:buFont typeface="Wingdings" panose="05000000000000000000" pitchFamily="2" charset="2"/>
              <a:buChar char="§"/>
              <a:buFont typeface="Arial"/>
              <a:buChar char="•"/>
            </a:pPr>
            <a:r>
              <a:rPr b="1" sz="1500">
                <a:solidFill>
                  <a:srgbClr val="1F2937"/>
                </a:solidFill>
                <a:latin typeface="Times New Roman"/>
              </a:rPr>
              <a:t>Motivation. </a:t>
            </a:r>
            <a:r>
              <a:rPr sz="1500">
                <a:solidFill>
                  <a:srgbClr val="1F2937"/>
                </a:solidFill>
                <a:latin typeface="Times New Roman"/>
              </a:rPr>
              <a:t>Reflective, free-form journaling is a well-evidenced tool for emotional processing and self-awareness, but adherence collapses fast without prompts, structure, or feedback — most people stop within days.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marL="182880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b="1" sz="1500">
                <a:solidFill>
                  <a:srgbClr val="1F2937"/>
                </a:solidFill>
                <a:latin typeface="Times New Roman"/>
              </a:rPr>
              <a:t>What ReflectAI is. </a:t>
            </a:r>
            <a:r>
              <a:rPr sz="1500">
                <a:solidFill>
                  <a:srgbClr val="1F2937"/>
                </a:solidFill>
                <a:latin typeface="Times New Roman"/>
              </a:rPr>
              <a:t>A full-stack, AI-powered smart-journaling and digital-health platform (in-app branded “Equoria”) that pairs free-form journaling with a Socratic-style AI reflection partner, automatic mood analytics, and passive physical-health correlation.</a:t>
            </a:r>
          </a:p>
          <a:p>
            <a:pPr indent="-182880" marL="182880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b="1" sz="1500">
                <a:solidFill>
                  <a:srgbClr val="1F2937"/>
                </a:solidFill>
                <a:latin typeface="Times New Roman"/>
              </a:rPr>
              <a:t>How it works. </a:t>
            </a:r>
            <a:r>
              <a:rPr sz="1500">
                <a:solidFill>
                  <a:srgbClr val="1F2937"/>
                </a:solidFill>
                <a:latin typeface="Times New Roman"/>
              </a:rPr>
              <a:t>Every entry is mood-tagged and timestamped; an LLM-driven reflection engine asks context-aware follow-up questions grounded in the user's own journal history, with a safety-checked heuristic fallback so the experience degrades gracefully instead of breaking.</a:t>
            </a:r>
          </a:p>
          <a:p>
            <a:pPr indent="-182880" marL="182880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b="1" sz="1500">
                <a:solidFill>
                  <a:srgbClr val="1F2937"/>
                </a:solidFill>
                <a:latin typeface="Times New Roman"/>
              </a:rPr>
              <a:t>Health context. </a:t>
            </a:r>
            <a:r>
              <a:rPr sz="1500">
                <a:solidFill>
                  <a:srgbClr val="1F2937"/>
                </a:solidFill>
                <a:latin typeface="Times New Roman"/>
              </a:rPr>
              <a:t>A native iOS companion app streams Apple HealthKit signals (sleep, steps, heart rate, stress) to the platform, which the Retrospect module correlates against mood over time.</a:t>
            </a:r>
          </a:p>
          <a:p>
            <a:pPr indent="-182880" marL="182880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b="1" sz="1500">
                <a:solidFill>
                  <a:srgbClr val="1F2937"/>
                </a:solidFill>
                <a:latin typeface="Times New Roman"/>
              </a:rPr>
              <a:t>Engineering scope. </a:t>
            </a:r>
            <a:r>
              <a:rPr sz="1500">
                <a:solidFill>
                  <a:srgbClr val="1F2937"/>
                </a:solidFill>
                <a:latin typeface="Times New Roman"/>
              </a:rPr>
              <a:t>Built on React + Vite, Node.js/Express + MongoDB, and SwiftUI/HealthKit, with production-grade security — JWT rotation, 2FA, encryption at rest, rate limiting — engineered in from the start, not bolted on later.</a:t>
            </a:r>
          </a:p>
          <a:p>
            <a:pPr indent="-182880" marL="182880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b="1" sz="1500">
                <a:solidFill>
                  <a:srgbClr val="1F2937"/>
                </a:solidFill>
                <a:latin typeface="Times New Roman"/>
              </a:rPr>
              <a:t>This review. </a:t>
            </a:r>
            <a:r>
              <a:rPr sz="1500">
                <a:solidFill>
                  <a:srgbClr val="1F2937"/>
                </a:solidFill>
                <a:latin typeface="Times New Roman"/>
              </a:rPr>
              <a:t>Phase-2 demonstrates a working end-to-end system: authentication, journaling, AI-guided reflection, mood/retrospective analytics, Apple Health sync, and a fully customizable interface.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D879-3E34-4FDE-9448-C2C2F556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651D008C-7F80-0936-159B-153C3E5EE226}"/>
              </a:ext>
            </a:extLst>
          </p:cNvPr>
          <p:cNvSpPr txBox="1">
            <a:spLocks/>
          </p:cNvSpPr>
          <p:nvPr/>
        </p:nvSpPr>
        <p:spPr>
          <a:xfrm>
            <a:off x="2304691" y="6372285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6C57B-B17B-8FA8-F8A7-826236182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079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9D1EE-AF95-4373-B568-F22C9407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LITERATURE SURVEY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26B048-E727-470A-9F16-393057F5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04900"/>
            <a:ext cx="9921240" cy="4991100"/>
          </a:xfrm>
        </p:spPr>
        <p:txBody>
          <a:bodyPr wrap="square">
            <a:normAutofit/>
          </a:bodyPr>
          <a:lstStyle/>
          <a:p>
            <a:pPr algn="just" indent="-182880" marL="182880">
              <a:lnSpc>
                <a:spcPct val="108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§"/>
              <a:buFont typeface="Arial"/>
              <a:buChar char="•"/>
            </a:pPr>
            <a:r>
              <a:rPr b="1" sz="1350">
                <a:solidFill>
                  <a:srgbClr val="1F2937"/>
                </a:solidFill>
                <a:latin typeface="Times New Roman"/>
              </a:rPr>
              <a:t>LLM-based journaling &amp; chatbot efficacy [1]–[7]. </a:t>
            </a:r>
            <a:r>
              <a:rPr sz="1350">
                <a:solidFill>
                  <a:srgbClr val="1F2937"/>
                </a:solidFill>
                <a:latin typeface="Times New Roman"/>
              </a:rPr>
              <a:t>Multiple 2023–2026 systematic reviews and meta-analyses confirm AI conversational agents produce measurable reductions in depressive/anxiety symptoms (effect sizes g ≈ 0.27–0.82), and that LLM-driven journaling is an emerging, distinct UX pattern from static chat.</a:t>
            </a:r>
          </a:p>
          <a:p>
            <a:pPr indent="-182880" marL="182880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b="1" sz="1350">
                <a:solidFill>
                  <a:srgbClr val="1F2937"/>
                </a:solidFill>
                <a:latin typeface="Times New Roman"/>
              </a:rPr>
              <a:t>Socratic / CBT-style dialogue [10]–[12]. </a:t>
            </a:r>
            <a:r>
              <a:rPr sz="1350">
                <a:solidFill>
                  <a:srgbClr val="1F2937"/>
                </a:solidFill>
                <a:latin typeface="Times New Roman"/>
              </a:rPr>
              <a:t>2024–2025 studies show LLMs can reliably execute Socratic questioning and cognitive-restructuring protocols used in CBT, validated by mental-health professionals reviewing real transcripts — directly informs ReflectAI's follow-up-question engine.</a:t>
            </a:r>
          </a:p>
          <a:p>
            <a:pPr indent="-182880" marL="182880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b="1" sz="1350">
                <a:solidFill>
                  <a:srgbClr val="1F2937"/>
                </a:solidFill>
                <a:latin typeface="Times New Roman"/>
              </a:rPr>
              <a:t>Digital phenotyping &amp; mood prediction [8]–[9]. </a:t>
            </a:r>
            <a:r>
              <a:rPr sz="1350">
                <a:solidFill>
                  <a:srgbClr val="1F2937"/>
                </a:solidFill>
                <a:latin typeface="Times New Roman"/>
              </a:rPr>
              <a:t>Passive smartphone/wearable signals (sleep, steps, mobility) reliably classify and predict mood and depression risk, motivating ReflectAI's Health–Retrospect correlation.</a:t>
            </a:r>
          </a:p>
          <a:p>
            <a:pPr indent="-182880" marL="182880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b="1" sz="1350">
                <a:solidFill>
                  <a:srgbClr val="1F2937"/>
                </a:solidFill>
                <a:latin typeface="Times New Roman"/>
              </a:rPr>
              <a:t>Foundations of journaling itself [13]. </a:t>
            </a:r>
            <a:r>
              <a:rPr sz="1350">
                <a:solidFill>
                  <a:srgbClr val="1F2937"/>
                </a:solidFill>
                <a:latin typeface="Times New Roman"/>
              </a:rPr>
              <a:t>Pennebaker-tradition expressive-writing research remains the strongest evidence base for why guided journaling improves psychological and physical health outcomes.</a:t>
            </a:r>
          </a:p>
          <a:p>
            <a:pPr indent="-182880" marL="182880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b="1" sz="1350">
                <a:solidFill>
                  <a:srgbClr val="1F2937"/>
                </a:solidFill>
                <a:latin typeface="Times New Roman"/>
              </a:rPr>
              <a:t>NLP mood/emotion classification [14]. </a:t>
            </a:r>
            <a:r>
              <a:rPr sz="1350">
                <a:solidFill>
                  <a:srgbClr val="1F2937"/>
                </a:solidFill>
                <a:latin typeface="Times New Roman"/>
              </a:rPr>
              <a:t>Transformer- and LSTM-based classifiers now reach ≈90% accuracy on text mood classification, informing ReflectAI's mood-tag and theme-extraction pipeline.</a:t>
            </a:r>
          </a:p>
          <a:p>
            <a:pPr indent="-182880" marL="182880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b="1" sz="1350">
                <a:solidFill>
                  <a:srgbClr val="1F2937"/>
                </a:solidFill>
                <a:latin typeface="Times New Roman"/>
              </a:rPr>
              <a:t>Privacy &amp; security posture [15]. </a:t>
            </a:r>
            <a:r>
              <a:rPr sz="1350">
                <a:solidFill>
                  <a:srgbClr val="1F2937"/>
                </a:solidFill>
                <a:latin typeface="Times New Roman"/>
              </a:rPr>
              <a:t>2024 CHI research found mental-health apps are frequently under-secured (1,575 vulnerabilities across just 10 audited apps) — directly motivated ReflectAI's own multi-round security-hardening pass.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5F7D49"/>
                </a:solidFill>
                <a:latin typeface="Times New Roman"/>
              </a:rPr>
              <a:t>Conclusion: the literature strongly supports each individual piece — journaling helps, LLMs can deliver CBT/Socratic-style support, and passive health signals predict mood — but very few systems combine all three with production-grade security. ReflectAI is designed to close exactly that gap.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D879-3E34-4FDE-9448-C2C2F556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F24C3907-DFFD-2DE1-9CB9-DC814667B1EF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D5092-4F94-F819-96C1-AD619C1192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211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9D1EE-AF95-4373-B568-F22C9407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PROBLEM STATEMENT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26B048-E727-470A-9F16-393057F5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04900"/>
            <a:ext cx="9921240" cy="4991100"/>
          </a:xfrm>
        </p:spPr>
        <p:txBody>
          <a:bodyPr wrap="square">
            <a:normAutofit/>
          </a:bodyPr>
          <a:lstStyle/>
          <a:p>
            <a:pPr algn="l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sz="1900">
                <a:solidFill>
                  <a:srgbClr val="1F2937"/>
                </a:solidFill>
                <a:latin typeface="Times New Roman"/>
              </a:rPr>
              <a:t>Most journaling apps are passive notebooks with no feedback loop, while most AI mental-health chatbots are stateless, one-off conversations disconnected from a user's own writing history and physical well-being. Users are left to manually notice their own emotional patterns, with nothing connecting mood swings to sleep, activity, or workload, and no safe, always-available prompt to go deeper than a surface-level entry — resulting in shallow, inconsistent journaling and missed early signals of stress or burnout.</a:t>
            </a:r>
          </a:p>
          <a:p>
            <a:pPr>
              <a:spcBef>
                <a:spcPts val="2200"/>
              </a:spcBef>
            </a:pPr>
            <a:r>
              <a:rPr sz="1700" b="1" i="1">
                <a:solidFill>
                  <a:srgbClr val="5F7D49"/>
                </a:solidFill>
                <a:latin typeface="Times New Roman"/>
              </a:rPr>
              <a:t>There is no accessible, secure, single platform that unifies guided reflective journaling, AI-driven Socratic follow-up, and objective physical-health context into one continuously learning feedback loop.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D879-3E34-4FDE-9448-C2C2F556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93AD2196-A063-8C1C-3112-2F7D09724AC7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81C35-685C-00CF-C68B-09C1540CC7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892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D0DB8-C36F-9830-AE62-DBEC85A3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498FAE-6D78-27F8-84B9-B30E6069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OBJECTIVES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191F11E-E1F3-AA90-4CB9-8297C4B46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04900"/>
            <a:ext cx="9921240" cy="4991100"/>
          </a:xfrm>
        </p:spPr>
        <p:txBody>
          <a:bodyPr wrap="square">
            <a:normAutofit/>
          </a:bodyPr>
          <a:lstStyle/>
          <a:p>
            <a:pPr algn="just" indent="-182880" marL="182880">
              <a:lnSpc>
                <a:spcPct val="108000"/>
              </a:lnSpc>
              <a:spcBef>
                <a:spcPts val="1200"/>
              </a:spcBef>
              <a:spcAft>
                <a:spcPts val="1400"/>
              </a:spcAft>
              <a:buFont typeface="Wingdings" panose="05000000000000000000" pitchFamily="2" charset="2"/>
              <a:buChar char="§"/>
              <a:buFont typeface="Arial"/>
              <a:buChar char="•"/>
            </a:pPr>
            <a:r>
              <a:rPr sz="1600">
                <a:solidFill>
                  <a:srgbClr val="1F2937"/>
                </a:solidFill>
                <a:latin typeface="Times New Roman"/>
              </a:rPr>
              <a:t>Build a secure, full-stack smart-journaling platform where every entry carries a mood tag and, optionally, linked physical-health context.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marL="182880">
              <a:lnSpc>
                <a:spcPct val="108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1F2937"/>
                </a:solidFill>
                <a:latin typeface="Times New Roman"/>
              </a:rPr>
              <a:t>Design an AI reflection engine that asks context-aware, Socratic-style follow-up questions grounded in the user's own journal history, with a safe non-AI fallback so the experience never fully breaks.</a:t>
            </a:r>
          </a:p>
          <a:p>
            <a:pPr indent="-182880" marL="182880">
              <a:lnSpc>
                <a:spcPct val="108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1F2937"/>
                </a:solidFill>
                <a:latin typeface="Times New Roman"/>
              </a:rPr>
              <a:t>Surface emotional patterns automatically — recurring themes, behavioral loops, mood-vs-health correlations — instead of requiring the user to notice them manually.</a:t>
            </a:r>
          </a:p>
          <a:p>
            <a:pPr indent="-182880" marL="182880">
              <a:lnSpc>
                <a:spcPct val="108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1F2937"/>
                </a:solidFill>
                <a:latin typeface="Times New Roman"/>
              </a:rPr>
              <a:t>Integrate real physical-health data (steps, sleep, heart rate, stress) via a native iOS HealthKit companion app with near-real-time background sync.</a:t>
            </a:r>
          </a:p>
          <a:p>
            <a:pPr indent="-182880" marL="182880">
              <a:lnSpc>
                <a:spcPct val="108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1F2937"/>
                </a:solidFill>
                <a:latin typeface="Times New Roman"/>
              </a:rPr>
              <a:t>Engineer the platform to a production security bar: JWT rotation, 2FA, rate limiting, encryption at rest, and a live, self-authored penetration-test harness.</a:t>
            </a:r>
          </a:p>
          <a:p>
            <a:pPr indent="-182880" marL="182880">
              <a:lnSpc>
                <a:spcPct val="108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1F2937"/>
                </a:solidFill>
                <a:latin typeface="Times New Roman"/>
              </a:rPr>
              <a:t>Give users full control over the interface's look and feel through simple accent-color sliders, with zero code changes required.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A2B2A-4AB2-135C-4032-4FFCAD82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7B2093D1-ACC3-55E7-0D74-B851BEE516D8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D166D4-050B-17CC-015C-DBE1755BD9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645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9D1EE-AF95-4373-B568-F22C9407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latin typeface="Sitka Banner" pitchFamily="2" charset="0"/>
              </a:rPr>
              <a:t>METHODOLOGY/SYSTEM ARCHITECTURE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26B048-E727-470A-9F16-393057F5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04900"/>
            <a:ext cx="0" cy="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D879-3E34-4FDE-9448-C2C2F556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1188F938-05AB-2441-303E-8EF3111E38E6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C0FE4-6999-937A-20B0-7353A50FBE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884" y="1051560"/>
            <a:ext cx="8943750" cy="5074920"/>
          </a:xfrm>
          <a:prstGeom prst="rect">
            <a:avLst/>
          </a:prstGeom>
          <a:ln w="9525">
            <a:solidFill>
              <a:srgbClr val="CFCFC9"/>
            </a:solidFill>
          </a:ln>
        </p:spPr>
      </p:pic>
    </p:spTree>
    <p:extLst>
      <p:ext uri="{BB962C8B-B14F-4D97-AF65-F5344CB8AC3E}">
        <p14:creationId xmlns:p14="http://schemas.microsoft.com/office/powerpoint/2010/main" val="407032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E6EF3-BDEB-D8A0-FFD2-45CAC7EF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C5427E-0B58-0AD1-04CF-314AD9CD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latin typeface="Sitka Banner" pitchFamily="2" charset="0"/>
              </a:rPr>
              <a:t>RESULTS I — JOURNALING &amp; AI REFLECTION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94B3F24-6CA8-46AB-8076-F2F2B641F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04900"/>
            <a:ext cx="0" cy="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3F9EE-D181-EC30-FF28-F9EC7B16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9C19D3BF-F828-29DC-E119-231D55C30A65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E1B21-E12B-98CC-4394-29BAFCFB11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01_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737" y="1024128"/>
            <a:ext cx="3285605" cy="2331720"/>
          </a:xfrm>
          <a:prstGeom prst="rect">
            <a:avLst/>
          </a:prstGeom>
          <a:ln w="9525">
            <a:solidFill>
              <a:srgbClr val="CFCFC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11480" y="3383280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Times New Roman"/>
              </a:rPr>
              <a:t>Dashboard — mood calendar, streaks, cumulative insight</a:t>
            </a:r>
          </a:p>
        </p:txBody>
      </p:sp>
      <p:pic>
        <p:nvPicPr>
          <p:cNvPr id="9" name="Picture 8" descr="07_journ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897" y="1024128"/>
            <a:ext cx="3285605" cy="2331720"/>
          </a:xfrm>
          <a:prstGeom prst="rect">
            <a:avLst/>
          </a:prstGeom>
          <a:ln w="9525">
            <a:solidFill>
              <a:srgbClr val="CFCFC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63640" y="3383280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Times New Roman"/>
              </a:rPr>
              <a:t>New Journal Entry — mood tagging + writing support</a:t>
            </a:r>
          </a:p>
        </p:txBody>
      </p:sp>
      <p:pic>
        <p:nvPicPr>
          <p:cNvPr id="11" name="Picture 10" descr="03_cha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737" y="3611880"/>
            <a:ext cx="3285605" cy="2331720"/>
          </a:xfrm>
          <a:prstGeom prst="rect">
            <a:avLst/>
          </a:prstGeom>
          <a:ln w="9525">
            <a:solidFill>
              <a:srgbClr val="CFCFC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11480" y="5971032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Times New Roman"/>
              </a:rPr>
              <a:t>AI Reflection Chat — Socratic follow-up questioning</a:t>
            </a:r>
          </a:p>
        </p:txBody>
      </p:sp>
      <p:pic>
        <p:nvPicPr>
          <p:cNvPr id="13" name="Picture 12" descr="04_setting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6897" y="3611880"/>
            <a:ext cx="3285605" cy="2331720"/>
          </a:xfrm>
          <a:prstGeom prst="rect">
            <a:avLst/>
          </a:prstGeom>
          <a:ln w="9525">
            <a:solidFill>
              <a:srgbClr val="CFCFC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263640" y="5971032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Times New Roman"/>
              </a:rPr>
              <a:t>Settings — live dark/light accent-color sliders</a:t>
            </a:r>
          </a:p>
        </p:txBody>
      </p:sp>
    </p:spTree>
    <p:extLst>
      <p:ext uri="{BB962C8B-B14F-4D97-AF65-F5344CB8AC3E}">
        <p14:creationId xmlns:p14="http://schemas.microsoft.com/office/powerpoint/2010/main" val="12749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E6EF3-BDEB-D8A0-FFD2-45CAC7EF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C5427E-0B58-0AD1-04CF-314AD9CD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latin typeface="Sitka Banner" pitchFamily="2" charset="0"/>
              </a:rPr>
              <a:t>RESULTS II — ANALYTICS &amp; HEALTH SYNC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94B3F24-6CA8-46AB-8076-F2F2B641F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04900"/>
            <a:ext cx="0" cy="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3F9EE-D181-EC30-FF28-F9EC7B16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9C19D3BF-F828-29DC-E119-231D55C30A65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E1B21-E12B-98CC-4394-29BAFCFB11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02_retrospe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737" y="1024128"/>
            <a:ext cx="3285605" cy="2331720"/>
          </a:xfrm>
          <a:prstGeom prst="rect">
            <a:avLst/>
          </a:prstGeom>
          <a:ln w="9525">
            <a:solidFill>
              <a:srgbClr val="CFCFC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11480" y="3383280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Times New Roman"/>
              </a:rPr>
              <a:t>Retrospect — emotional-timeline chart + recurring themes</a:t>
            </a:r>
          </a:p>
        </p:txBody>
      </p:sp>
      <p:pic>
        <p:nvPicPr>
          <p:cNvPr id="9" name="Picture 8" descr="06_health_trend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897" y="1024128"/>
            <a:ext cx="3285605" cy="2331720"/>
          </a:xfrm>
          <a:prstGeom prst="rect">
            <a:avLst/>
          </a:prstGeom>
          <a:ln w="9525">
            <a:solidFill>
              <a:srgbClr val="CFCFC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63640" y="3383280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Times New Roman"/>
              </a:rPr>
              <a:t>Apple Health sync — weekly steps / stress / sleep trends</a:t>
            </a:r>
          </a:p>
        </p:txBody>
      </p:sp>
      <p:pic>
        <p:nvPicPr>
          <p:cNvPr id="11" name="Picture 10" descr="08_glob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737" y="3611880"/>
            <a:ext cx="3285605" cy="2331720"/>
          </a:xfrm>
          <a:prstGeom prst="rect">
            <a:avLst/>
          </a:prstGeom>
          <a:ln w="9525">
            <a:solidFill>
              <a:srgbClr val="CFCFC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11480" y="5971032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Times New Roman"/>
              </a:rPr>
              <a:t>Memory Globe — 3D constellation of journaled days</a:t>
            </a:r>
          </a:p>
        </p:txBody>
      </p:sp>
      <p:pic>
        <p:nvPicPr>
          <p:cNvPr id="13" name="Picture 12" descr="05_health_metric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6897" y="3611880"/>
            <a:ext cx="3285605" cy="2331720"/>
          </a:xfrm>
          <a:prstGeom prst="rect">
            <a:avLst/>
          </a:prstGeom>
          <a:ln w="9525">
            <a:solidFill>
              <a:srgbClr val="CFCFC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263640" y="5971032"/>
            <a:ext cx="5532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Times New Roman"/>
              </a:rPr>
              <a:t>Health dashboard — today's metrics + monthly averages</a:t>
            </a:r>
          </a:p>
        </p:txBody>
      </p:sp>
    </p:spTree>
    <p:extLst>
      <p:ext uri="{BB962C8B-B14F-4D97-AF65-F5344CB8AC3E}">
        <p14:creationId xmlns:p14="http://schemas.microsoft.com/office/powerpoint/2010/main" val="12749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75B2-654D-3474-4747-3AAD10CC1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751C18-25DD-4412-C452-E8DFBEFCC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TIMELINE/PLAN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1EE74E6-B30C-0139-E7B6-AB7E9D5FB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04900"/>
            <a:ext cx="0" cy="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16D04-5312-1883-C047-7C3228FD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C1D1D8B4-9249-B3E7-E562-9965B7F20DA1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0D0F25-F42D-32E9-AD8D-2C1EA1E77D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0104120" cy="4664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08760"/>
                <a:gridCol w="493776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 anchor="ctr">
                    <a:solidFill>
                      <a:srgbClr val="5F7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Times New Roman"/>
                        </a:rPr>
                        <a:t>Duration</a:t>
                      </a:r>
                    </a:p>
                  </a:txBody>
                  <a:tcPr anchor="ctr">
                    <a:solidFill>
                      <a:srgbClr val="5F7D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  <a:latin typeface="Times New Roman"/>
                        </a:rPr>
                        <a:t>Key Deliverables</a:t>
                      </a:r>
                    </a:p>
                  </a:txBody>
                  <a:tcPr anchor="ctr">
                    <a:solidFill>
                      <a:srgbClr val="5F7D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anchor="ctr">
                    <a:solidFill>
                      <a:srgbClr val="5F7D49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Times New Roman"/>
                        </a:rPr>
                        <a:t>1 — Planning &amp; Design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Weeks 1–3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Requirement analysis, literature survey, system architecture, DB schema design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3F6B2E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Times New Roman"/>
                        </a:rPr>
                        <a:t>2 — Core Platform</a:t>
                      </a:r>
                    </a:p>
                  </a:txBody>
                  <a:tcPr anchor="ctr" marL="73152" marR="73152" marT="36576" marB="36576">
                    <a:solidFill>
                      <a:srgbClr val="F0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Weeks 4–7</a:t>
                      </a:r>
                    </a:p>
                  </a:txBody>
                  <a:tcPr anchor="ctr" marL="73152" marR="73152" marT="36576" marB="36576">
                    <a:solidFill>
                      <a:srgbClr val="F0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JWT/2FA auth, journal CRUD, mood tagging, dashboard, MongoDB models</a:t>
                      </a:r>
                    </a:p>
                  </a:txBody>
                  <a:tcPr anchor="ctr" marL="73152" marR="73152" marT="36576" marB="36576">
                    <a:solidFill>
                      <a:srgbClr val="F0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3F6B2E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73152" marR="73152" marT="36576" marB="36576">
                    <a:solidFill>
                      <a:srgbClr val="F0F3EC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Times New Roman"/>
                        </a:rPr>
                        <a:t>3 — AI Reflection Engine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Weeks 8–9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OpenAI-integrated Socratic chat, heuristic fallback, anti-repetition logic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3F6B2E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Times New Roman"/>
                        </a:rPr>
                        <a:t>4 — Analytics &amp; Health Sync</a:t>
                      </a:r>
                    </a:p>
                  </a:txBody>
                  <a:tcPr anchor="ctr" marL="73152" marR="73152" marT="36576" marB="36576">
                    <a:solidFill>
                      <a:srgbClr val="F0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Weeks 10–11</a:t>
                      </a:r>
                    </a:p>
                  </a:txBody>
                  <a:tcPr anchor="ctr" marL="73152" marR="73152" marT="36576" marB="36576">
                    <a:solidFill>
                      <a:srgbClr val="F0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Retrospect analytics, theme extraction, iOS HealthKit app, QR pairing</a:t>
                      </a:r>
                    </a:p>
                  </a:txBody>
                  <a:tcPr anchor="ctr" marL="73152" marR="73152" marT="36576" marB="36576">
                    <a:solidFill>
                      <a:srgbClr val="F0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3F6B2E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73152" marR="73152" marT="36576" marB="36576">
                    <a:solidFill>
                      <a:srgbClr val="F0F3EC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Times New Roman"/>
                        </a:rPr>
                        <a:t>5 — Security Hardening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Week 12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Rate limiting, encryption at rest, pentest harness, 6 major risk fixes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3F6B2E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Times New Roman"/>
                        </a:rPr>
                        <a:t>6 — UI/UX Polish (current)</a:t>
                      </a:r>
                    </a:p>
                  </a:txBody>
                  <a:tcPr anchor="ctr" marL="73152" marR="73152" marT="36576" marB="36576">
                    <a:solidFill>
                      <a:srgbClr val="F0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Week 13 (this review)</a:t>
                      </a:r>
                    </a:p>
                  </a:txBody>
                  <a:tcPr anchor="ctr" marL="73152" marR="73152" marT="36576" marB="36576">
                    <a:solidFill>
                      <a:srgbClr val="F0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Memory Globe, custom theming, layout overhaul, live QA pass</a:t>
                      </a:r>
                    </a:p>
                  </a:txBody>
                  <a:tcPr anchor="ctr" marL="73152" marR="73152" marT="36576" marB="36576">
                    <a:solidFill>
                      <a:srgbClr val="F0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B47A1A"/>
                          </a:solidFill>
                          <a:latin typeface="Times New Roman"/>
                        </a:rPr>
                        <a:t>In progress (~65%)</a:t>
                      </a:r>
                    </a:p>
                  </a:txBody>
                  <a:tcPr anchor="ctr" marL="73152" marR="73152" marT="36576" marB="36576">
                    <a:solidFill>
                      <a:srgbClr val="F0F3EC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Times New Roman"/>
                        </a:rPr>
                        <a:t>7 — Final Testing &amp; Deployment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Weeks 14–16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1F2937"/>
                          </a:solidFill>
                          <a:latin typeface="Times New Roman"/>
                        </a:rPr>
                        <a:t>End-to-end test suite, deployment, extended analytics, demo prep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6B7280"/>
                          </a:solidFill>
                          <a:latin typeface="Times New Roman"/>
                        </a:rPr>
                        <a:t>Planned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42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738E6-B6E6-EF1B-62C1-DE0FE263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F31D4-9C34-6AD2-9273-1F56FF282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FUTURE SCOPE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8D679D3-FD0D-393B-E240-89F22607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04900"/>
            <a:ext cx="9921240" cy="4991100"/>
          </a:xfrm>
        </p:spPr>
        <p:txBody>
          <a:bodyPr wrap="square">
            <a:normAutofit/>
          </a:bodyPr>
          <a:lstStyle/>
          <a:p>
            <a:pPr algn="just" indent="-182880" marL="182880">
              <a:lnSpc>
                <a:spcPct val="108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  <a:buFont typeface="Arial"/>
              <a:buChar char="•"/>
            </a:pPr>
            <a:r>
              <a:rPr sz="1550">
                <a:solidFill>
                  <a:srgbClr val="1F2937"/>
                </a:solidFill>
                <a:latin typeface="Times New Roman"/>
              </a:rPr>
              <a:t>Nightingale Rose Chart for richer multi-dimensional mood/emotion visualization (season-over-season emotional composition) — currently in design discussion.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marL="182880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550">
                <a:solidFill>
                  <a:srgbClr val="1F2937"/>
                </a:solidFill>
                <a:latin typeface="Times New Roman"/>
              </a:rPr>
              <a:t>Android companion app to reach parity with the existing iOS HealthKit integration, via the Health Connect API.</a:t>
            </a:r>
          </a:p>
          <a:p>
            <a:pPr indent="-182880" marL="182880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550">
                <a:solidFill>
                  <a:srgbClr val="1F2937"/>
                </a:solidFill>
                <a:latin typeface="Times New Roman"/>
              </a:rPr>
              <a:t>Deeper sentiment/emotion NLP — transformer-based multi-label emotion classification — replacing the current keyword-based theme extraction.</a:t>
            </a:r>
          </a:p>
          <a:p>
            <a:pPr indent="-182880" marL="182880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550">
                <a:solidFill>
                  <a:srgbClr val="1F2937"/>
                </a:solidFill>
                <a:latin typeface="Times New Roman"/>
              </a:rPr>
              <a:t>Optional clinician/therapist-facing dashboard for supervised use cases, gated behind explicit user sharing consent.</a:t>
            </a:r>
          </a:p>
          <a:p>
            <a:pPr indent="-182880" marL="182880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550">
                <a:solidFill>
                  <a:srgbClr val="1F2937"/>
                </a:solidFill>
                <a:latin typeface="Times New Roman"/>
              </a:rPr>
              <a:t>On-device / federated personalization to reduce reliance on a hosted LLM and strengthen privacy guarantees further.</a:t>
            </a:r>
          </a:p>
          <a:p>
            <a:pPr indent="-182880" marL="182880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550">
                <a:solidFill>
                  <a:srgbClr val="1F2937"/>
                </a:solidFill>
                <a:latin typeface="Times New Roman"/>
              </a:rPr>
              <a:t>Multi-language journaling and AI reflection support.</a:t>
            </a:r>
          </a:p>
          <a:p>
            <a:pPr indent="-182880" marL="182880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550">
                <a:solidFill>
                  <a:srgbClr val="1F2937"/>
                </a:solidFill>
                <a:latin typeface="Times New Roman"/>
              </a:rPr>
              <a:t>Adaptive, data-driven habit nudges — building on the existing streak system — informed by the digital-phenotyping literature [8], [9].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9097D-A6BB-05CB-4F23-5D9131901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7D12F4AE-6071-18FD-A36C-6D754C6A64D7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B40A7-4EB1-F1B0-7F1D-831F99B2E5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855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9D1EE-AF95-4373-B568-F22C9407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>
                <a:latin typeface="Sitka Banner" pitchFamily="2" charset="0"/>
              </a:rPr>
              <a:t>PATENT/PUBLICATION DETAILS</a:t>
            </a:r>
            <a:endParaRPr lang="en-US" sz="4000" b="1" dirty="0">
              <a:latin typeface="Sitka Banner" pitchFamily="2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26B048-E727-470A-9F16-393057F5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04900"/>
            <a:ext cx="11049000" cy="4991100"/>
          </a:xfrm>
        </p:spPr>
        <p:txBody>
          <a:bodyPr wrap="square">
            <a:norm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sz="1700">
                <a:solidFill>
                  <a:srgbClr val="1F2937"/>
                </a:solidFill>
                <a:latin typeface="Times New Roman"/>
              </a:rPr>
              <a:t>No patents have been filed and no publications have been made for this project at this stage of development (Phase-2 Review).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1800"/>
              </a:spcBef>
            </a:pPr>
            <a:r>
              <a:rPr sz="1600">
                <a:solidFill>
                  <a:srgbClr val="1F2937"/>
                </a:solidFill>
                <a:latin typeface="Times New Roman"/>
              </a:rPr>
              <a:t>A conference/journal manuscript summarizing the Socratic-reflection engine and the mood–health correlation methodology is planned for submission after Phase-3 completion and full evaluation.</a:t>
            </a:r>
          </a:p>
          <a:p>
            <a:pPr>
              <a:lnSpc>
                <a:spcPct val="130000"/>
              </a:lnSpc>
              <a:spcBef>
                <a:spcPts val="1800"/>
              </a:spcBef>
            </a:pPr>
            <a:r>
              <a:rPr b="1" sz="1600">
                <a:solidFill>
                  <a:srgbClr val="5F7D49"/>
                </a:solidFill>
                <a:latin typeface="Times New Roman"/>
              </a:rPr>
              <a:t>Novelty being explored for potential filing: </a:t>
            </a:r>
            <a:r>
              <a:rPr sz="1600">
                <a:solidFill>
                  <a:srgbClr val="1F2937"/>
                </a:solidFill>
                <a:latin typeface="Times New Roman"/>
              </a:rPr>
              <a:t>the heuristic-fallback anti-repetition mechanism that keeps AI-guided reflection safe, contextual, and non-repetitive without requiring a live LLM connection.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D879-3E34-4FDE-9448-C2C2F556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26B63E00-BB15-10CB-CE66-6DE12F1A7899}"/>
              </a:ext>
            </a:extLst>
          </p:cNvPr>
          <p:cNvSpPr txBox="1">
            <a:spLocks/>
          </p:cNvSpPr>
          <p:nvPr/>
        </p:nvSpPr>
        <p:spPr>
          <a:xfrm>
            <a:off x="2175295" y="6363658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86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0812-8B8E-5A1B-432C-F69E4615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94259F-D09C-10B6-495D-32CED1B9C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REFERENCES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C15F1F0-F50C-7332-5355-7964E8984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04900"/>
            <a:ext cx="0" cy="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C441D-A5F2-3A61-9E79-65ADE857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DC9A3C41-96B0-D6E9-6A26-635BCBDDDD8E}"/>
              </a:ext>
            </a:extLst>
          </p:cNvPr>
          <p:cNvSpPr txBox="1">
            <a:spLocks/>
          </p:cNvSpPr>
          <p:nvPr/>
        </p:nvSpPr>
        <p:spPr>
          <a:xfrm>
            <a:off x="2175295" y="6363658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54864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[1] “Journaling with Large Language Models: A Novel UX Paradigm for AI-Driven Personal Health Management,” Frontiers in Artificial Intelligence, 2025.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[2] “The Applications of Large Language Models in Mental Health: Scoping Review,” Journal of Medical Internet Research (JMIR), 2025.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[3] “Large Language Models for Mental Health Applications: Systematic Review,” JMIR Mental Health, 2024.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[4] “Systematic Review and Meta-Analysis of Chatbots in the Management of Depressive and Anxiety Symptoms,” npj Digital Medicine, 2026.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[5] “Generative AI Mental Health Chatbots as Therapeutic Tools: Systematic Review and Meta-Analysis,” JMIR, 2025.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[6] “AI Chatbots for Mental Health: A Scoping Review of Effectiveness, Feasibility, and Applications,” Applied Sciences (MDPI), 2024.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[7] “Systematic Review and Meta-Analysis of AI-Based Conversational Agents for Promoting Mental Health and Well-Being,” npj Digital Medicine, 2023.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[8] “Personalized Mood Prediction from Patterns of Behavior Collected with Smartphones,” npj Digital Medicine, 2024.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05840"/>
            <a:ext cx="54864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[9] “Key Features of Digital Phenotyping for Monitoring Mental Disorders: Systematic Review,” JMIR, 2025.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[10] K. Izumi et al., “Response Generation for Cognitive Behavioral Therapy with Large Language Models: Comparative Study with Socratic Questioning,” arXiv:2401.15966, 2024.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[11] “Evaluating an LLM-Powered Chatbot for Cognitive Restructuring: Insights from Users and Mental Health Professionals,” ACM Trans. Computing for Healthcare, 2025.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[12] “A Novel CBT-Based Generative AI Tool (Socrates 2.0) to Facilitate Socratic Dialogue: Protocol for a Mixed-Methods Feasibility Study,” JMIR Research Protocols, 2024.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[13] “Efficacy of Expressive Writing Versus Positive Writing in Different Populations: Systematic Review and Meta-Analysis,” PMC, 2023.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[14] “Unveiling Emotions: NLP-Based Mood Classification and Well-Being Tracking for Enhanced Mental Health Awareness,” Math. Modelling of Engineering Problems (IIETA), 2024.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30">
                <a:solidFill>
                  <a:srgbClr val="1F2937"/>
                </a:solidFill>
                <a:latin typeface="Times New Roman"/>
              </a:rPr>
              <a:t>[15] “‘That's Kind of Sus(picious)’: The Comprehensiveness of Mental Health Application Users' Privacy and Security Concerns,” Proc. 2024 CHI Conf. Human Factors in Computing Systems (ACM), 2024.</a:t>
            </a:r>
          </a:p>
        </p:txBody>
      </p:sp>
    </p:spTree>
    <p:extLst>
      <p:ext uri="{BB962C8B-B14F-4D97-AF65-F5344CB8AC3E}">
        <p14:creationId xmlns:p14="http://schemas.microsoft.com/office/powerpoint/2010/main" val="350016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138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Baskerville Old Face</vt:lpstr>
      <vt:lpstr>Calibri</vt:lpstr>
      <vt:lpstr>Calibri Light</vt:lpstr>
      <vt:lpstr>Sitka Banner</vt:lpstr>
      <vt:lpstr>Times New Roman</vt:lpstr>
      <vt:lpstr>Wingdings</vt:lpstr>
      <vt:lpstr>Office Theme</vt:lpstr>
      <vt:lpstr>Picture</vt:lpstr>
      <vt:lpstr>PowerPoint Presentation</vt:lpstr>
      <vt:lpstr>AGENDA</vt:lpstr>
      <vt:lpstr>INTRODUCTION</vt:lpstr>
      <vt:lpstr>LITERATURE SURVEY</vt:lpstr>
      <vt:lpstr>PROBLEM STATEMENT</vt:lpstr>
      <vt:lpstr>OBJECTIVES</vt:lpstr>
      <vt:lpstr>METHODOLOGY/SYSTEM ARCHITECTURE</vt:lpstr>
      <vt:lpstr>RESULTS</vt:lpstr>
      <vt:lpstr>TIMELINE/PLAN</vt:lpstr>
      <vt:lpstr>FUTURE SCOPE</vt:lpstr>
      <vt:lpstr>PATENT/PUBLICATION DETAILS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Sampada K S</dc:creator>
  <cp:lastModifiedBy>Anupama M</cp:lastModifiedBy>
  <cp:revision>8</cp:revision>
  <dcterms:created xsi:type="dcterms:W3CDTF">2023-12-13T09:50:56Z</dcterms:created>
  <dcterms:modified xsi:type="dcterms:W3CDTF">2026-08-08T07:08:09Z</dcterms:modified>
</cp:coreProperties>
</file>